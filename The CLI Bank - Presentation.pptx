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slide, presented in first person: "Today I'm walking through Bank of CLI, the banking app I built for this project."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fourth layer: Domain isn't in the call chain like the other three — it's the shared model layer every other layer imports, which is why it's drawn beside the pipeline rather than inside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relationships between the same pair of tables: every transaction has exactly one owning account (solid line), and only transfers also have a counterparty account (dashed line, nullable).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folders left to right in the order a request flows: api receives input, service applies rules, persistence hits the database, and domain is the shared model every one of them imports.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 in first person: "Here's what's actually working right now." Consider a live demo cue on the Transaction Engine card.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reference slide. Point out how each tool maps to a layer: Maven builds it, JUnit tests the Service/Repository layers, Postgres sits behind the Repository layer, Git tracks the whole history.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rule alone maps to 15% of the rubric. Emphasize: tests must actually pass, and they must meaningfully validate behavior — not just call the method.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each principle back to the code: atomicity and consistency live in the Service layer's transfer/withdraw logic, isolation comes from per-request connections, durability is Postgres's job once the DAO commits.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slide. Transition straight into a terminal demo of BankCLI — register, deposit, transfer, then view history — before opening the floor to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slide. Transition straight into a terminal demo of BankCLI — register, deposit, transfer, then view history — before opening the floor to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21630"/>
            <a:ext cx="2059644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spc="100" kern="0" dirty="0">
                <a:solidFill>
                  <a:srgbClr val="0071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PRESENTATION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872861" y="812800"/>
            <a:ext cx="155713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Syed Huzaifa Nabeel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800" y="2500709"/>
            <a:ext cx="10883392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720"/>
              </a:lnSpc>
              <a:buNone/>
            </a:pPr>
            <a:r>
              <a:rPr lang="en-US" sz="6400" b="1" spc="-150" kern="0" dirty="0">
                <a:solidFill>
                  <a:srgbClr val="F5F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CLI Bank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812800" y="3531890"/>
            <a:ext cx="784860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A1A1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terminal-based banking application, built with a four-layer architecture connected to a Postgres database.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12800" y="5646440"/>
            <a:ext cx="633214" cy="398760"/>
          </a:xfrm>
          <a:prstGeom prst="roundRect">
            <a:avLst>
              <a:gd name="adj" fmla="val 50000"/>
            </a:avLst>
          </a:prstGeom>
          <a:solidFill>
            <a:srgbClr val="1D1D1F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5748040"/>
            <a:ext cx="277614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5F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534914" y="5646440"/>
            <a:ext cx="913110" cy="398760"/>
          </a:xfrm>
          <a:prstGeom prst="roundRect">
            <a:avLst>
              <a:gd name="adj" fmla="val 50000"/>
            </a:avLst>
          </a:prstGeom>
          <a:solidFill>
            <a:srgbClr val="1D1D1F"/>
          </a:solidFill>
          <a:ln/>
        </p:spPr>
      </p:sp>
      <p:sp>
        <p:nvSpPr>
          <p:cNvPr id="9" name="Text 7"/>
          <p:cNvSpPr/>
          <p:nvPr/>
        </p:nvSpPr>
        <p:spPr>
          <a:xfrm>
            <a:off x="1738114" y="5748040"/>
            <a:ext cx="55751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5F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36924" y="5646440"/>
            <a:ext cx="1191915" cy="398760"/>
          </a:xfrm>
          <a:prstGeom prst="roundRect">
            <a:avLst>
              <a:gd name="adj" fmla="val 50000"/>
            </a:avLst>
          </a:prstGeom>
          <a:solidFill>
            <a:srgbClr val="1D1D1F"/>
          </a:solidFill>
          <a:ln/>
        </p:spPr>
      </p:sp>
      <p:sp>
        <p:nvSpPr>
          <p:cNvPr id="11" name="Text 9"/>
          <p:cNvSpPr/>
          <p:nvPr/>
        </p:nvSpPr>
        <p:spPr>
          <a:xfrm>
            <a:off x="2740124" y="5748040"/>
            <a:ext cx="836315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5F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Persistence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817739" y="5646440"/>
            <a:ext cx="914301" cy="398760"/>
          </a:xfrm>
          <a:prstGeom prst="roundRect">
            <a:avLst>
              <a:gd name="adj" fmla="val 50000"/>
            </a:avLst>
          </a:prstGeom>
          <a:solidFill>
            <a:srgbClr val="1D1D1F"/>
          </a:solidFill>
          <a:ln/>
        </p:spPr>
      </p:sp>
      <p:sp>
        <p:nvSpPr>
          <p:cNvPr id="13" name="Text 11"/>
          <p:cNvSpPr/>
          <p:nvPr/>
        </p:nvSpPr>
        <p:spPr>
          <a:xfrm>
            <a:off x="4020939" y="5748040"/>
            <a:ext cx="558701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5F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Domain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238280"/>
            <a:ext cx="283714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never talks to Persistence directly.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812800"/>
            <a:ext cx="10883392" cy="2383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0071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800" y="1025723"/>
            <a:ext cx="10883392" cy="491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68"/>
              </a:lnSpc>
              <a:buNone/>
            </a:pPr>
            <a:r>
              <a:rPr lang="en-US" sz="3190" b="1" spc="-50" kern="0" dirty="0">
                <a:solidFill>
                  <a:srgbClr val="F5F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Layered Architecure</a:t>
            </a:r>
            <a:endParaRPr lang="en-US" sz="3190" dirty="0"/>
          </a:p>
        </p:txBody>
      </p:sp>
      <p:sp>
        <p:nvSpPr>
          <p:cNvPr id="5" name="Shape 3"/>
          <p:cNvSpPr/>
          <p:nvPr/>
        </p:nvSpPr>
        <p:spPr>
          <a:xfrm>
            <a:off x="815975" y="1749425"/>
            <a:ext cx="8604250" cy="549870"/>
          </a:xfrm>
          <a:custGeom>
            <a:avLst/>
            <a:gdLst/>
            <a:ahLst/>
            <a:cxnLst/>
            <a:rect l="l" t="t" r="r" b="b"/>
            <a:pathLst>
              <a:path w="8604250" h="549870">
                <a:moveTo>
                  <a:pt x="98425" y="0"/>
                </a:moveTo>
                <a:lnTo>
                  <a:pt x="8505825" y="0"/>
                </a:lnTo>
                <a:arcTo hR="98425" wR="98425" stAng="16200000" swAng="5400000"/>
                <a:lnTo>
                  <a:pt x="8604250" y="549870"/>
                </a:lnTo>
                <a:lnTo>
                  <a:pt x="0" y="549870"/>
                </a:lnTo>
                <a:lnTo>
                  <a:pt x="0" y="98425"/>
                </a:lnTo>
                <a:arcTo hR="98425" wR="98425" stAng="10800000" swAng="5400000"/>
                <a:close/>
              </a:path>
            </a:pathLst>
          </a:custGeom>
          <a:solidFill>
            <a:srgbClr val="1D1D1F"/>
          </a:solidFill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2350" y="1926530"/>
            <a:ext cx="144780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0071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· api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571750" y="1917700"/>
            <a:ext cx="684136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1A1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BankCLI, Main — terminal menu and user input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3641" y="2327870"/>
            <a:ext cx="8868918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071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 calls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12800" y="2531070"/>
            <a:ext cx="8610600" cy="549870"/>
          </a:xfrm>
          <a:prstGeom prst="rect">
            <a:avLst/>
          </a:prstGeom>
          <a:solidFill>
            <a:srgbClr val="1D1D1F"/>
          </a:solidFill>
          <a:ln/>
        </p:spPr>
      </p:sp>
      <p:sp>
        <p:nvSpPr>
          <p:cNvPr id="10" name="Shape 8"/>
          <p:cNvSpPr/>
          <p:nvPr/>
        </p:nvSpPr>
        <p:spPr>
          <a:xfrm>
            <a:off x="9420225" y="2531070"/>
            <a:ext cx="0" cy="54987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12800" y="3077766"/>
            <a:ext cx="8610600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5975" y="2531070"/>
            <a:ext cx="0" cy="54987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2350" y="2705001"/>
            <a:ext cx="144780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0071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· service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71750" y="2696170"/>
            <a:ext cx="684136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1A1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BankService, BankServiceImpl — the banking rules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3641" y="3106341"/>
            <a:ext cx="8868918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071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 calls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12800" y="3309541"/>
            <a:ext cx="8610600" cy="549870"/>
          </a:xfrm>
          <a:prstGeom prst="rect">
            <a:avLst/>
          </a:prstGeom>
          <a:solidFill>
            <a:srgbClr val="1D1D1F"/>
          </a:solidFill>
          <a:ln/>
        </p:spPr>
      </p:sp>
      <p:sp>
        <p:nvSpPr>
          <p:cNvPr id="17" name="Shape 15"/>
          <p:cNvSpPr/>
          <p:nvPr/>
        </p:nvSpPr>
        <p:spPr>
          <a:xfrm>
            <a:off x="9420225" y="3309541"/>
            <a:ext cx="0" cy="54987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2800" y="3856236"/>
            <a:ext cx="8610600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5975" y="3309541"/>
            <a:ext cx="0" cy="54987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2350" y="3483471"/>
            <a:ext cx="144780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0071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· persistence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571750" y="3474641"/>
            <a:ext cx="684136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1A1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AccountDAO, TransactionDAO, ConnectionFactory — talks to Postgres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3641" y="3884811"/>
            <a:ext cx="8868918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071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 persists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12800" y="4088011"/>
            <a:ext cx="8610600" cy="549870"/>
          </a:xfrm>
          <a:custGeom>
            <a:avLst/>
            <a:gdLst/>
            <a:ahLst/>
            <a:cxnLst/>
            <a:rect l="l" t="t" r="r" b="b"/>
            <a:pathLst>
              <a:path w="8610600" h="549870">
                <a:moveTo>
                  <a:pt x="0" y="0"/>
                </a:moveTo>
                <a:lnTo>
                  <a:pt x="8610600" y="0"/>
                </a:lnTo>
                <a:lnTo>
                  <a:pt x="8610600" y="448270"/>
                </a:lnTo>
                <a:arcTo hR="101600" wR="101600" stAng="0" swAng="5400000"/>
                <a:lnTo>
                  <a:pt x="101600" y="549870"/>
                </a:lnTo>
                <a:arcTo hR="101600" wR="101600" stAng="5400000" swAng="5400000"/>
                <a:lnTo>
                  <a:pt x="0" y="0"/>
                </a:lnTo>
                <a:close/>
              </a:path>
            </a:pathLst>
          </a:custGeom>
          <a:solidFill>
            <a:srgbClr val="1D1D1F"/>
          </a:solidFill>
          <a:ln/>
        </p:spPr>
      </p:sp>
      <p:sp>
        <p:nvSpPr>
          <p:cNvPr id="24" name="Shape 22"/>
          <p:cNvSpPr/>
          <p:nvPr/>
        </p:nvSpPr>
        <p:spPr>
          <a:xfrm>
            <a:off x="812800" y="4088011"/>
            <a:ext cx="8610600" cy="549870"/>
          </a:xfrm>
          <a:custGeom>
            <a:avLst/>
            <a:gdLst/>
            <a:ahLst/>
            <a:cxnLst/>
            <a:rect l="l" t="t" r="r" b="b"/>
            <a:pathLst>
              <a:path w="8610600" h="549870">
                <a:moveTo>
                  <a:pt x="8604250" y="0"/>
                </a:moveTo>
                <a:lnTo>
                  <a:pt x="8610600" y="0"/>
                </a:lnTo>
                <a:lnTo>
                  <a:pt x="8610600" y="448270"/>
                </a:lnTo>
                <a:arcTo hR="101600" wR="101600" stAng="0" swAng="5400000"/>
                <a:lnTo>
                  <a:pt x="101600" y="549870"/>
                </a:lnTo>
                <a:arcTo hR="101600" wR="101600" stAng="5400000" swAng="5400000"/>
                <a:lnTo>
                  <a:pt x="0" y="0"/>
                </a:lnTo>
                <a:lnTo>
                  <a:pt x="6350" y="0"/>
                </a:lnTo>
                <a:lnTo>
                  <a:pt x="6350" y="448270"/>
                </a:lnTo>
                <a:arcTo hR="95250" wR="95250" stAng="10800000" swAng="-5400000"/>
                <a:lnTo>
                  <a:pt x="8509000" y="543520"/>
                </a:lnTo>
                <a:arcTo hR="95250" wR="95250" stAng="5400000" swAng="-5400000"/>
                <a:lnTo>
                  <a:pt x="8604250" y="0"/>
                </a:lnTo>
                <a:close/>
              </a:path>
            </a:pathLst>
          </a:custGeom>
          <a:solidFill>
            <a:srgbClr val="FFFFFF">
              <a:alpha val="12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022350" y="4261941"/>
            <a:ext cx="144780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0071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DB · postgres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571750" y="4253111"/>
            <a:ext cx="684136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1A1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accounts and transactions tables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604375" y="1749425"/>
            <a:ext cx="1771650" cy="4089400"/>
          </a:xfrm>
          <a:prstGeom prst="roundRect">
            <a:avLst>
              <a:gd name="adj" fmla="val 5556"/>
            </a:avLst>
          </a:prstGeom>
          <a:solidFill>
            <a:srgbClr val="1D1D1F"/>
          </a:solidFill>
          <a:ln w="6350">
            <a:solidFill>
              <a:srgbClr val="0071E3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9810750" y="2892524"/>
            <a:ext cx="140970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0071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· domain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810750" y="3189684"/>
            <a:ext cx="14097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5F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Account, Transaction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810750" y="3717925"/>
            <a:ext cx="1409700" cy="10032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A1A1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Plain model classes shared across all three layers — the common language everyone speaks.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0071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02612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spc="-50" kern="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 Diagram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6238280"/>
            <a:ext cx="196593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CLI Bank · Data model</a:t>
            </a:r>
            <a:endParaRPr lang="en-US" sz="1200" dirty="0"/>
          </a:p>
        </p:txBody>
      </p:sp>
      <p:pic>
        <p:nvPicPr>
          <p:cNvPr id="5" name="Image 0" descr="Untitled Diagram.drawio (1).png">    </p:cNvPr>
          <p:cNvPicPr>
            <a:picLocks noChangeAspect="1"/>
          </p:cNvPicPr>
          <p:nvPr/>
        </p:nvPicPr>
        <p:blipFill>
          <a:blip r:embed="rId1"/>
          <a:srcRect l="0" r="0" t="0" b="915"/>
          <a:stretch/>
        </p:blipFill>
        <p:spPr>
          <a:xfrm>
            <a:off x="2580283" y="1911747"/>
            <a:ext cx="7031434" cy="3588544"/>
          </a:xfrm>
          <a:prstGeom prst="roundRect">
            <a:avLst>
              <a:gd name="adj" fmla="val 1770"/>
            </a:avLst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0071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 TOUR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02612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spc="-50" kern="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com.bankcli, package by package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750616"/>
            <a:ext cx="2540000" cy="4088209"/>
          </a:xfrm>
          <a:prstGeom prst="roundRect">
            <a:avLst>
              <a:gd name="adj" fmla="val 3875"/>
            </a:avLst>
          </a:prstGeom>
          <a:solidFill>
            <a:srgbClr val="FFFFFF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2350" y="1956991"/>
            <a:ext cx="2191068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071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api/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22350" y="2236391"/>
            <a:ext cx="2191068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BankCLI.java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22350" y="2533551"/>
            <a:ext cx="2191068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Main.java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89325" y="1750616"/>
            <a:ext cx="2540000" cy="4088209"/>
          </a:xfrm>
          <a:prstGeom prst="roundRect">
            <a:avLst>
              <a:gd name="adj" fmla="val 3875"/>
            </a:avLst>
          </a:prstGeom>
          <a:solidFill>
            <a:srgbClr val="FFFFFF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95700" y="1956991"/>
            <a:ext cx="2191068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071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service/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95700" y="2236391"/>
            <a:ext cx="2191068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BankService.java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95700" y="2533551"/>
            <a:ext cx="2191068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BankServiceImpl.java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62675" y="1750616"/>
            <a:ext cx="2540000" cy="4088209"/>
          </a:xfrm>
          <a:prstGeom prst="roundRect">
            <a:avLst>
              <a:gd name="adj" fmla="val 3875"/>
            </a:avLst>
          </a:prstGeom>
          <a:solidFill>
            <a:srgbClr val="FFFFFF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69050" y="1956991"/>
            <a:ext cx="2191068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071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persistence/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369050" y="2236391"/>
            <a:ext cx="2191068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AccountDAO.java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69050" y="2533551"/>
            <a:ext cx="2191068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AccountDAOImpl.java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69050" y="2830711"/>
            <a:ext cx="2191068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TransactionDAO.java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69050" y="3127871"/>
            <a:ext cx="2191068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TransactionDAOImpl.java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69050" y="3425031"/>
            <a:ext cx="2191068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ConnectionFactory.java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832850" y="1747441"/>
            <a:ext cx="2546350" cy="4094559"/>
          </a:xfrm>
          <a:prstGeom prst="roundRect">
            <a:avLst>
              <a:gd name="adj" fmla="val 3990"/>
            </a:avLst>
          </a:prstGeom>
          <a:solidFill>
            <a:srgbClr val="1D1D1F"/>
          </a:solidFill>
          <a:ln/>
        </p:spPr>
      </p:sp>
      <p:sp>
        <p:nvSpPr>
          <p:cNvPr id="20" name="Text 18"/>
          <p:cNvSpPr/>
          <p:nvPr/>
        </p:nvSpPr>
        <p:spPr>
          <a:xfrm>
            <a:off x="9036050" y="1950641"/>
            <a:ext cx="2204149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071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domain/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036050" y="2230041"/>
            <a:ext cx="2204149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5F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Account.java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036050" y="2527201"/>
            <a:ext cx="2204149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5F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Transaction.java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12800" y="6238280"/>
            <a:ext cx="247506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CLI Bank · Package structure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238280"/>
            <a:ext cx="19588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CLI Bank · What I built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0071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 BUILT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800" y="1026120"/>
            <a:ext cx="10883392" cy="521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10"/>
              </a:lnSpc>
              <a:buNone/>
            </a:pPr>
            <a:r>
              <a:rPr lang="en-US" sz="3400" b="1" spc="-50" kern="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Features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815975" y="1831975"/>
            <a:ext cx="3414117" cy="2030710"/>
          </a:xfrm>
          <a:prstGeom prst="roundRect">
            <a:avLst>
              <a:gd name="adj" fmla="val 4847"/>
            </a:avLst>
          </a:prstGeom>
          <a:solidFill>
            <a:srgbClr val="FFFFFF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47750" y="2063750"/>
            <a:ext cx="303908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 Access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47750" y="2368550"/>
            <a:ext cx="3039084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Register and log in with a unique Account ID and PIN.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8842" y="1831975"/>
            <a:ext cx="3414216" cy="2030710"/>
          </a:xfrm>
          <a:prstGeom prst="roundRect">
            <a:avLst>
              <a:gd name="adj" fmla="val 4847"/>
            </a:avLst>
          </a:prstGeom>
          <a:solidFill>
            <a:srgbClr val="FFFFFF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20617" y="2063750"/>
            <a:ext cx="303918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Balance Management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620617" y="2368550"/>
            <a:ext cx="3039186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 the current account balance at any time.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958634" y="1828800"/>
            <a:ext cx="3420566" cy="2037060"/>
          </a:xfrm>
          <a:prstGeom prst="roundRect">
            <a:avLst>
              <a:gd name="adj" fmla="val 4988"/>
            </a:avLst>
          </a:prstGeom>
          <a:solidFill>
            <a:srgbClr val="1D1D1F"/>
          </a:solidFill>
          <a:ln/>
        </p:spPr>
      </p:sp>
      <p:sp>
        <p:nvSpPr>
          <p:cNvPr id="12" name="Text 10"/>
          <p:cNvSpPr/>
          <p:nvPr/>
        </p:nvSpPr>
        <p:spPr>
          <a:xfrm>
            <a:off x="8187234" y="2057400"/>
            <a:ext cx="30522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071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Transaction Engine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187234" y="2362200"/>
            <a:ext cx="3052267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2D2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Deposit, Withdraw (overdraft-protected), and Transfer between accounts.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5975" y="4021435"/>
            <a:ext cx="6987084" cy="1817390"/>
          </a:xfrm>
          <a:prstGeom prst="roundRect">
            <a:avLst>
              <a:gd name="adj" fmla="val 5416"/>
            </a:avLst>
          </a:prstGeom>
          <a:solidFill>
            <a:srgbClr val="FFFFFF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47750" y="4253210"/>
            <a:ext cx="671924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Logging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47750" y="4558010"/>
            <a:ext cx="67192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</a:t>
            </a:r>
            <a:r>
              <a:rPr lang="en-US" sz="1200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successful actions, </a:t>
            </a:r>
            <a:r>
              <a:rPr lang="en-US" sz="1200" b="1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ERROR</a:t>
            </a:r>
            <a:r>
              <a:rPr lang="en-US" sz="1200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failures or security risks — every run leaves a trail.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0071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STACK I USED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026120"/>
            <a:ext cx="10883392" cy="521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10"/>
              </a:lnSpc>
              <a:buNone/>
            </a:pPr>
            <a:r>
              <a:rPr lang="en-US" sz="3400" b="1" spc="-50" kern="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Five tools that got it done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15975" y="1830586"/>
            <a:ext cx="2005310" cy="2946598"/>
          </a:xfrm>
          <a:prstGeom prst="roundRect">
            <a:avLst>
              <a:gd name="adj" fmla="val 4908"/>
            </a:avLst>
          </a:prstGeom>
          <a:solidFill>
            <a:srgbClr val="FFFFFF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1550" y="2036961"/>
            <a:ext cx="1744985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LANGUAGE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71550" y="4327029"/>
            <a:ext cx="1744985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954635" y="1830586"/>
            <a:ext cx="2005310" cy="2946598"/>
          </a:xfrm>
          <a:prstGeom prst="roundRect">
            <a:avLst>
              <a:gd name="adj" fmla="val 4908"/>
            </a:avLst>
          </a:prstGeom>
          <a:solidFill>
            <a:srgbClr val="FFFFFF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10210" y="2036961"/>
            <a:ext cx="1744985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TOOL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110210" y="4327029"/>
            <a:ext cx="1744985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Maven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93295" y="1830586"/>
            <a:ext cx="2005310" cy="2946598"/>
          </a:xfrm>
          <a:prstGeom prst="roundRect">
            <a:avLst>
              <a:gd name="adj" fmla="val 4908"/>
            </a:avLst>
          </a:prstGeom>
          <a:solidFill>
            <a:srgbClr val="FFFFFF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48870" y="2036961"/>
            <a:ext cx="1744985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248870" y="4327029"/>
            <a:ext cx="1744985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Postgres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231955" y="1830586"/>
            <a:ext cx="2005310" cy="2946598"/>
          </a:xfrm>
          <a:prstGeom prst="roundRect">
            <a:avLst>
              <a:gd name="adj" fmla="val 4908"/>
            </a:avLst>
          </a:prstGeom>
          <a:solidFill>
            <a:srgbClr val="FFFFFF"/>
          </a:solidFill>
          <a:ln w="6350">
            <a:solidFill>
              <a:srgbClr val="D2D2D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87530" y="2036961"/>
            <a:ext cx="1744985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87530" y="4327029"/>
            <a:ext cx="1744985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JUnit 5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367441" y="1827411"/>
            <a:ext cx="2011660" cy="2952948"/>
          </a:xfrm>
          <a:prstGeom prst="roundRect">
            <a:avLst>
              <a:gd name="adj" fmla="val 5051"/>
            </a:avLst>
          </a:prstGeom>
          <a:solidFill>
            <a:srgbClr val="1D1D1F"/>
          </a:solidFill>
          <a:ln/>
        </p:spPr>
      </p:sp>
      <p:sp>
        <p:nvSpPr>
          <p:cNvPr id="17" name="Text 15"/>
          <p:cNvSpPr/>
          <p:nvPr/>
        </p:nvSpPr>
        <p:spPr>
          <a:xfrm>
            <a:off x="9519841" y="2030611"/>
            <a:ext cx="1758066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VERSION CONTROL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519841" y="4333379"/>
            <a:ext cx="1758066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071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 &amp; GitHub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12800" y="5085159"/>
            <a:ext cx="10566400" cy="756841"/>
          </a:xfrm>
          <a:prstGeom prst="roundRect">
            <a:avLst>
              <a:gd name="adj" fmla="val 13424"/>
            </a:avLst>
          </a:prstGeom>
          <a:solidFill>
            <a:srgbClr val="1D1D1F"/>
          </a:solidFill>
          <a:ln/>
        </p:spPr>
      </p:sp>
      <p:sp>
        <p:nvSpPr>
          <p:cNvPr id="20" name="Text 18"/>
          <p:cNvSpPr/>
          <p:nvPr/>
        </p:nvSpPr>
        <p:spPr>
          <a:xfrm>
            <a:off x="1066800" y="5356920"/>
            <a:ext cx="29428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071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462683" y="5339159"/>
            <a:ext cx="2286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D2D2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792883" y="5356920"/>
            <a:ext cx="69780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071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592288" y="5339159"/>
            <a:ext cx="2286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D2D2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922488" y="5356920"/>
            <a:ext cx="82272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071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Repository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846810" y="5339159"/>
            <a:ext cx="2286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D2D2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177010" y="5356920"/>
            <a:ext cx="68510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071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Postgres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12800" y="6238280"/>
            <a:ext cx="15456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CLI Bank · Stack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0071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I TESTED 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026120"/>
            <a:ext cx="10883392" cy="521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10"/>
              </a:lnSpc>
              <a:buNone/>
            </a:pPr>
            <a:r>
              <a:rPr lang="en-US" sz="3400" b="1" spc="-50" kern="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2-Test Rule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12800" y="1522611"/>
            <a:ext cx="850265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method in my Service and Persistence layers shipped with at least two JUnit 5 tests.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9150" y="2082602"/>
            <a:ext cx="5168900" cy="3753048"/>
          </a:xfrm>
          <a:prstGeom prst="roundRect">
            <a:avLst>
              <a:gd name="adj" fmla="val 2538"/>
            </a:avLst>
          </a:prstGeom>
          <a:solidFill>
            <a:srgbClr val="FFFFFF"/>
          </a:solidFill>
          <a:ln w="12700">
            <a:solidFill>
              <a:srgbClr val="0071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04900" y="2368352"/>
            <a:ext cx="4735322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0071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POSITIVE TEST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04900" y="2690912"/>
            <a:ext cx="4735322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Prove it works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04900" y="3092152"/>
            <a:ext cx="473532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Show the method succeeds when everything goes right.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104900" y="3450233"/>
            <a:ext cx="4597400" cy="449560"/>
          </a:xfrm>
          <a:prstGeom prst="roundRect">
            <a:avLst>
              <a:gd name="adj" fmla="val 11300"/>
            </a:avLst>
          </a:prstGeom>
          <a:solidFill>
            <a:srgbClr val="F5F5F7"/>
          </a:solidFill>
          <a:ln/>
        </p:spPr>
      </p:sp>
      <p:sp>
        <p:nvSpPr>
          <p:cNvPr id="10" name="Text 8"/>
          <p:cNvSpPr/>
          <p:nvPr/>
        </p:nvSpPr>
        <p:spPr>
          <a:xfrm>
            <a:off x="1231900" y="3577233"/>
            <a:ext cx="4473702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e.g. deposit(100) → balance increases by 100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03950" y="2082602"/>
            <a:ext cx="5168900" cy="3753048"/>
          </a:xfrm>
          <a:prstGeom prst="roundRect">
            <a:avLst>
              <a:gd name="adj" fmla="val 2538"/>
            </a:avLst>
          </a:prstGeom>
          <a:solidFill>
            <a:srgbClr val="FFFFFF"/>
          </a:solidFill>
          <a:ln w="12700">
            <a:solidFill>
              <a:srgbClr val="FF3B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89700" y="2368352"/>
            <a:ext cx="4735322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F3B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 NEGATIVE TEST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89700" y="2690912"/>
            <a:ext cx="4735322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Prove it fails safely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89700" y="3092152"/>
            <a:ext cx="4735322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6E6E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Show the method rejects bad input gracefully, without crashing.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89700" y="3681313"/>
            <a:ext cx="4597400" cy="449560"/>
          </a:xfrm>
          <a:prstGeom prst="roundRect">
            <a:avLst>
              <a:gd name="adj" fmla="val 11300"/>
            </a:avLst>
          </a:prstGeom>
          <a:solidFill>
            <a:srgbClr val="F5F5F7"/>
          </a:solidFill>
          <a:ln/>
        </p:spPr>
      </p:sp>
      <p:sp>
        <p:nvSpPr>
          <p:cNvPr id="16" name="Text 14"/>
          <p:cNvSpPr/>
          <p:nvPr/>
        </p:nvSpPr>
        <p:spPr>
          <a:xfrm>
            <a:off x="6616700" y="3808313"/>
            <a:ext cx="4473702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e.g. withdraw(9999) on a $50 balance → rejected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12800" y="6238280"/>
            <a:ext cx="166697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CLI Bank · Testing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0071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TRANSACTION GUARANTEES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026120"/>
            <a:ext cx="10883392" cy="521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10"/>
              </a:lnSpc>
              <a:buNone/>
            </a:pPr>
            <a:r>
              <a:rPr lang="en-US" sz="3400" b="1" spc="-50" kern="0" dirty="0">
                <a:solidFill>
                  <a:srgbClr val="F5F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ACID Principles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15975" y="1830586"/>
            <a:ext cx="5200650" cy="1924745"/>
          </a:xfrm>
          <a:prstGeom prst="roundRect">
            <a:avLst>
              <a:gd name="adj" fmla="val 5114"/>
            </a:avLst>
          </a:prstGeom>
          <a:solidFill>
            <a:srgbClr val="1D1D1F"/>
          </a:solidFill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3150" y="2087761"/>
            <a:ext cx="482688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071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· Atomicity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73150" y="2389981"/>
            <a:ext cx="4826889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1A1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Transfer's deduction and addition run as one unit through the Service layer — both commit, or neither does.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75375" y="1830586"/>
            <a:ext cx="5200650" cy="1924745"/>
          </a:xfrm>
          <a:prstGeom prst="roundRect">
            <a:avLst>
              <a:gd name="adj" fmla="val 5114"/>
            </a:avLst>
          </a:prstGeom>
          <a:solidFill>
            <a:srgbClr val="1D1D1F"/>
          </a:solidFill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32550" y="2087761"/>
            <a:ext cx="482688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071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 · Consistency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32550" y="2389981"/>
            <a:ext cx="4826889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1A1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Service layer checks the rules before any write — a Withdraw that would overdraw an account is rejected, never persisted.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5975" y="3914080"/>
            <a:ext cx="5200650" cy="1924745"/>
          </a:xfrm>
          <a:prstGeom prst="roundRect">
            <a:avLst>
              <a:gd name="adj" fmla="val 5114"/>
            </a:avLst>
          </a:prstGeom>
          <a:solidFill>
            <a:srgbClr val="1D1D1F"/>
          </a:solidFill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3150" y="4171255"/>
            <a:ext cx="482688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071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 · Isolation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73150" y="4473476"/>
            <a:ext cx="4826889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1A1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request gets its own connection from ConnectionFactory, so one in-flight transfer can't read another's half-finished balance.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75375" y="3914080"/>
            <a:ext cx="5200650" cy="1924745"/>
          </a:xfrm>
          <a:prstGeom prst="roundRect">
            <a:avLst>
              <a:gd name="adj" fmla="val 5114"/>
            </a:avLst>
          </a:prstGeom>
          <a:solidFill>
            <a:srgbClr val="1D1D1F"/>
          </a:solidFill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32550" y="4171255"/>
            <a:ext cx="482688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071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 · Durability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32550" y="4473476"/>
            <a:ext cx="4826889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1A1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Once AccountDAO and TransactionDAO commit, Postgres has it on disk — a balance survives even if the app crashes right after.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80"/>
            <a:ext cx="150306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CLI Bank · ACID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22845" y="3093740"/>
            <a:ext cx="1746211" cy="69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4800" b="1" spc="-50" kern="0" dirty="0">
                <a:solidFill>
                  <a:srgbClr val="F5F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2808387" y="4054277"/>
            <a:ext cx="6772483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AF9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mvn compile exec:java "-Dexec.mainClass=com.bankcli.api.Main"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21734" y="3093740"/>
            <a:ext cx="3348532" cy="69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4800" b="1" spc="-50" kern="0" dirty="0">
                <a:solidFill>
                  <a:srgbClr val="F5F5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 You!</a:t>
            </a:r>
            <a:endParaRPr lang="en-US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 of CLI — Completed Project Presentation</dc:title>
  <dc:subject>PptxGenJS Presentation</dc:subject>
  <dc:creator>PptxGenJS</dc:creator>
  <cp:lastModifiedBy>PptxGenJS</cp:lastModifiedBy>
  <cp:revision>1</cp:revision>
  <dcterms:created xsi:type="dcterms:W3CDTF">2026-09-24T19:08:13Z</dcterms:created>
  <dcterms:modified xsi:type="dcterms:W3CDTF">2026-09-24T19:08:13Z</dcterms:modified>
</cp:coreProperties>
</file>